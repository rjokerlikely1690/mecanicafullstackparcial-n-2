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960120"/>
            <a:ext cx="640080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AutoMax</a:t>
            </a:r>
          </a:p>
          <a:p>
            <a:pPr algn="l">
              <a:spcAft>
                <a:spcPts val="300"/>
              </a:spcAft>
              <a:defRPr sz="3000" b="0" i="0">
                <a:solidFill>
                  <a:srgbClr val="FFFFFF"/>
                </a:solidFill>
                <a:latin typeface="Arial"/>
              </a:defRPr>
            </a:pPr>
            <a:r>
              <a:t>Presentación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800" b="0" i="0">
                <a:solidFill>
                  <a:srgbClr val="DBEAFE"/>
                </a:solidFill>
                <a:latin typeface="Arial"/>
              </a:defRPr>
            </a:pPr>
            <a:r>
              <a:t>Branching, arquitectura, patrones, pruebas y documentación.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93C5FD"/>
                </a:solidFill>
                <a:latin typeface="Arial"/>
              </a:defRPr>
            </a:pPr>
            <a:r>
              <a:t>DSY1106 · Desarrollo Fullstack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0" i="0">
                <a:solidFill>
                  <a:srgbClr val="BFDBFE"/>
                </a:solidFill>
                <a:latin typeface="Arial"/>
              </a:defRPr>
            </a:pPr>
            <a:r>
              <a:t>Demo, arquitectura, Git, pruebas y documentación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143000"/>
            <a:ext cx="36576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143000"/>
            <a:ext cx="36576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197864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Ejes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73352"/>
            <a:ext cx="338328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Frontend NPM y consumo por API.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BFF / Gateway como entrada única.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Microservicios y responsabilidades separadas.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Branching con Git y resolución de conflictos.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Patrones, pruebas y documentación.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53212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100" b="0" i="1">
                <a:solidFill>
                  <a:srgbClr val="E2E8F0"/>
                </a:solidFill>
                <a:latin typeface="Arial"/>
              </a:defRPr>
            </a:pPr>
            <a:r>
              <a:t>Demo, arquitectura, Git, pruebas y documentación.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¿Qué pide la pauta?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Criterios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Requisitos de la pauta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Frontend, BFF, microservicios y documentación.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3520440" cy="1828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35204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Encargo grupal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3246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Frontend NPM.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Un BFF y al menos dos microservicios.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Arquetipos Maven para backend.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Todo versionado en GitHub.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874519"/>
            <a:ext cx="352044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1874519"/>
            <a:ext cx="352044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92938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Documentación técnica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404872"/>
            <a:ext cx="3246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Patrones y arquetipos.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Branching en Git.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README por componente.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`repositorios.txt` con enlaces finales.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1874519"/>
            <a:ext cx="3474720" cy="182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1874519"/>
            <a:ext cx="347472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92938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Evaluación 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404872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15 minutos en total.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Exposición individual.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Preguntas sobre patrones, branching y pruebas.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70% del puntaje.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10835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069080"/>
            <a:ext cx="1083564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23944"/>
            <a:ext cx="105613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Criterio 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99432"/>
            <a:ext cx="10561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Arquitectura, Git, documentación y pruebas respaldan la calidad de la solución.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Arquitectura general de AutoMax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Frontend, BFF, microservicios y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Flujo de 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Frontend, BFF, microservicios y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97480" cy="1600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965960"/>
            <a:ext cx="269748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20824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Frontend NPM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96312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React y Axios.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Rutas protegidas.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Consume una API única.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19272" y="2423160"/>
            <a:ext cx="411480" cy="41148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1965960"/>
            <a:ext cx="2697480" cy="1600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94760" y="1965960"/>
            <a:ext cx="269748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020824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BFF /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496312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Entrada única.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Adapta respuestas.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Centraliza seguridad.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11112" y="2423160"/>
            <a:ext cx="411480" cy="4114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86600" y="1965960"/>
            <a:ext cx="2697480" cy="160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6600" y="1965960"/>
            <a:ext cx="269748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020824"/>
            <a:ext cx="2423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Microservicios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96312"/>
            <a:ext cx="2423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Usuarios.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Vehículos.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Turnos y servicios.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02952" y="2423160"/>
            <a:ext cx="41148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78440" y="1965960"/>
            <a:ext cx="12801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78440" y="1965960"/>
            <a:ext cx="12801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2020824"/>
            <a:ext cx="1005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Persistencia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496312"/>
            <a:ext cx="1005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H2 en memoria.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MongoDB.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069080"/>
            <a:ext cx="53949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069080"/>
            <a:ext cx="539496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2394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Arquitectura integrada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599432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El frontend conversa con una capa de entrada que distribuye la lógica hacia servicios especializados.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069080"/>
            <a:ext cx="5212080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4069080"/>
            <a:ext cx="521208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23944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Ventajas del diseño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9943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La separación de responsabilidades y el control de cambios ordenan la solución.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Frontend NPM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Elementos principales del cliente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Arquitectura del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Organización por componentes y control de acceso.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486400" cy="3566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54864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8366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Componentes clave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59152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React organiza la interfaz por componentes.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`package.json` concentra dependencias y scripts.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Axios centraliza las llamadas HTTP.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`AuthContext` guarda sesión y usuario.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`ProtectedRoute` controla accesos según rol.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Bootstrap y React-Bootstrap mantienen consistencia visual.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074920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828800"/>
            <a:ext cx="50749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83664"/>
            <a:ext cx="4800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Arquitectura del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59152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El frontend muestra datos, pide acciones y protege rutas sin mezclar lógica de negocio.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03320"/>
            <a:ext cx="507492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03320"/>
            <a:ext cx="507492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758183"/>
            <a:ext cx="4800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Rol del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33672"/>
            <a:ext cx="4800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El frontend consume la API, controla la navegación y mejora la experiencia del usuario.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BFF /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Entrada única, adaptación y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Función del BFF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Entrada única, adaptación y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2606040" cy="1645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26060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Frontend NPM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Pide una acción.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No conoce detalles internos.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2404872"/>
            <a:ext cx="411480" cy="41148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1874519"/>
            <a:ext cx="2880360" cy="1645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0" y="1874519"/>
            <a:ext cx="288036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1929384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BFF /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404872"/>
            <a:ext cx="2606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Agrega datos.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Traduce respuestas.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Filtra y valida.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76872" y="2404872"/>
            <a:ext cx="411480" cy="4114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52360" y="1874519"/>
            <a:ext cx="4023360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1874519"/>
            <a:ext cx="402336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929384"/>
            <a:ext cx="3749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Servicios específicos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404872"/>
            <a:ext cx="3749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Usuarios.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Vehículos.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Turnos.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Catálogo de servicios.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31920"/>
            <a:ext cx="53949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3931920"/>
            <a:ext cx="539496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8678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Comunicación centralizada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6227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El BFF consolida peticiones del frontend; por ejemplo, al registrar un turno, la solicitud llega a una sola API.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31920"/>
            <a:ext cx="5166360" cy="1554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1663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86783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Gateway como entrada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62272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El gateway valida cada solicitud; por ejemplo, una consulta de vehículos va a `vehiculos-service`.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Servicios separados por dominio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Separación por dominios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Usuarios, vehículos, turnos y catálogo.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743200" cy="1737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27432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usuarios-service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Registro y login.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Control de usuarios y roles.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Base para autenticación.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74320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1828800"/>
            <a:ext cx="274320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vehiculos-service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Gestión de autos.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Estado del vehículo.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Datos asociados al cliente.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2743200" cy="1737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274320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turnos-service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Reserva de citas.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Fechas y horarios.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Relación con vehículo y usuario.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28800"/>
            <a:ext cx="242316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720" y="1828800"/>
            <a:ext cx="242316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883664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Autenticación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59152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Login y registro.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Base para acceso seguro.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Soporte de acceso.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5394960" cy="1554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539496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032503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Separación de dominios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07992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Cada microservicio resuelve un problema puntual. Eso permite cambiar una parte sin romper todo el sistema.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977639"/>
            <a:ext cx="5166360" cy="1554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3977639"/>
            <a:ext cx="51663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32503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Arquitectura evolutiva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507992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La separación de dominios define la comunicación entre servicios y favorece el trabajo independiente.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Patrones de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Persistencia, negocio y acceso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Aplicación de patrones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Persistencia, negocio, acceso y comportamiento.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2743200" cy="1737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27432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Separa persistencia.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Encapsula consultas.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Facilita pruebas.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828800"/>
            <a:ext cx="274320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828800"/>
            <a:ext cx="274320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Service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Reglas de negocio.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Orquesta operaciones.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Evita lógica en controladores.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2743200" cy="1737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274320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83664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Strategy / 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5915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Cambia el comportamiento.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Ejemplo: rutas protegidas.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Reglas por rol o estado.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828800"/>
            <a:ext cx="228600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1828800"/>
            <a:ext cx="228600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1883664"/>
            <a:ext cx="2011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DI / Singleton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59152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Spring gestiona beans.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Reutilización segura.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109728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977639"/>
            <a:ext cx="1097280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032503"/>
            <a:ext cx="10698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Relación entre patrones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07992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Repository guarda el acceso a datos, Service Layer concentra la lógica, Strategy cambia comportamientos según el contexto y la inyección de dependencias evita acoplamiento fuerte.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Arquetipos Maven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Estandarización del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Estructura y repetibilidad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Arquetipos Maven y proyectos consistentes.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2606040" cy="1600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26060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Inicialización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Usar un arquetipo base.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Crear estructura estándar.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56432" y="2359152"/>
            <a:ext cx="411480" cy="41148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1874519"/>
            <a:ext cx="2606040" cy="1600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1920" y="1874519"/>
            <a:ext cx="260604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192938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404872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`pom.xml`.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Dependencias y plugins.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702552" y="2359152"/>
            <a:ext cx="411480" cy="4114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78040" y="1874519"/>
            <a:ext cx="2606040" cy="1600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78040" y="1874519"/>
            <a:ext cx="260604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92938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Estructura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404872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`src/main/java`.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`src/main/resources`.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48672" y="2359152"/>
            <a:ext cx="411480" cy="4114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24160" y="1874519"/>
            <a:ext cx="109728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24160" y="1874519"/>
            <a:ext cx="109728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20" y="1929384"/>
            <a:ext cx="822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Documentación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2404872"/>
            <a:ext cx="82295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README.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77639"/>
            <a:ext cx="10972800" cy="16002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3977639"/>
            <a:ext cx="109728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32503"/>
            <a:ext cx="10698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Ventajas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507992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Los arquetipos dan una estructura común, reducen errores y aceleran la creación de servicios.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Branching en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Flujo de integración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Estructura de ramas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main, develop y feature/*.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2926080"/>
            <a:ext cx="0" cy="13716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17420" y="4160520"/>
            <a:ext cx="3909060" cy="1828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57900" y="4160520"/>
            <a:ext cx="68580" cy="1828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4160520"/>
            <a:ext cx="3771900" cy="1828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1828800"/>
            <a:ext cx="35661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6616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8366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76856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Rama estable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063240"/>
            <a:ext cx="356616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3063240"/>
            <a:ext cx="35661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11810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develop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11296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Integra cambios del equipo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43400"/>
            <a:ext cx="306324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343400"/>
            <a:ext cx="306324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9826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feature/login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82312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Cambios aislados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343400"/>
            <a:ext cx="306324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4343400"/>
            <a:ext cx="306324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39826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feature/bff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782312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Endpoint y pruebas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4343400"/>
            <a:ext cx="3063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4343400"/>
            <a:ext cx="30632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398264"/>
            <a:ext cx="2788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feature/services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782312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Microservicios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486400"/>
            <a:ext cx="5303520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5800" y="5486400"/>
            <a:ext cx="53035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41264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Integración colaborativa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25312"/>
            <a:ext cx="5029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branch → commit → PR → revisión → merge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486400"/>
            <a:ext cx="5440680" cy="1005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72200" y="5486400"/>
            <a:ext cx="544068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541264"/>
            <a:ext cx="5166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Resolución de conflictos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925312"/>
            <a:ext cx="5166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1E293B"/>
                </a:solidFill>
                <a:latin typeface="Arial"/>
              </a:defRPr>
            </a:pPr>
            <a:r>
              <a:t>Se resuelven en la rama y se validan antes del merge.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Buenas prácticas y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Mantenimiento y validación de la 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Calidad del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Mantenimiento y validación de la solución.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5349240" cy="26517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53492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Buenas prácticas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Separación de responsabilidades.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Nombres claros en clases y métodos.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README por componente.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Variables de entorno y configuración externa.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Código limpio y estructura consistente.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303520" cy="2651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3035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9384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Pruebas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Unit tests para servicios y lógica clave.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Mock de dependencias cuando corresponda.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Validación de endpoints importantes.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Cobertura de rutas críticas.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Evidencia de ejecución y resultados.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1088136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800600"/>
            <a:ext cx="1088136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55464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Valor de las pruebas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Las pruebas no están solo para aprobar: sirven para evitar regresiones y demostrar que la arquitectura elegida realmente ayuda a mantener el sistema.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Síntesis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Arquitectura, Git y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Integración de componentes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Frontend, backend y calidad.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20240"/>
            <a:ext cx="3474720" cy="13258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920240"/>
            <a:ext cx="347472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Frontend NPM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React y componentización.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Axios y autenticación.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ProtectedRoute y navegación segura.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20240"/>
            <a:ext cx="3474720" cy="13258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920240"/>
            <a:ext cx="347472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7510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Backend y microservicios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505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Gateway como entrada única.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Usuarios, vehículos, turnos y servicios.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Separación por dominios.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920240"/>
            <a:ext cx="347472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920240"/>
            <a:ext cx="34747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7510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y calidad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5059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Branching en Git.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Pruebas unitarias.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Buenas prácticas y documentación.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109728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1097280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12463"/>
            <a:ext cx="10698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Integración del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87952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Frontend, backend y calidad trabajan juntos para mantener una solución ordenada y trazable.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Documentación y trazabilidad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Archivos y repositorios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Inventario documental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Documentos técnicos y repositorios.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5394960" cy="2971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53949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Documentos técnicos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51206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`EVALUACION_PARCIAL_2_ESTUDIANTE.pdf`: pauta base y criterios.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README por componente: ejecución, puertos y dependencias.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Patrones, arquetipos y branching: decisiones técnicas.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`repositorios.txt`: URLs finales verificables.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ERS, manual, API y testing: respaldo documental.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5166360" cy="2971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16636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29384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Repositorios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04872"/>
            <a:ext cx="48920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`Mecanica-ev3`: repo principal consolidado.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`01_Monolito/`: app real ejecutable.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`02_Microservicios/`: arquitectura del informe.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`03_Documentacion/`: entregables y evidencia.</a:t>
            </a:r>
          </a:p>
          <a:p>
            <a:pPr algn="l">
              <a:spcAft>
                <a:spcPts val="200"/>
              </a:spcAft>
              <a:defRPr sz="1220" b="0" i="0">
                <a:solidFill>
                  <a:srgbClr val="1E293B"/>
                </a:solidFill>
                <a:latin typeface="Arial"/>
              </a:defRPr>
            </a:pPr>
            <a:r>
              <a:t>• `Djangofullstacktrabajomecanica/`: referencia comparativa.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74920"/>
            <a:ext cx="1088136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8136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9783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Trazabilidad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05272"/>
            <a:ext cx="1060704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La trazabilidad final debe usar enlaces reales y verificables.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Validaciones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BFF, branching y pruebas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Conclusiones de la 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Arquitectura, integración y calidad.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3474720" cy="1828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347472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BFF /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defRPr sz="1210" b="0" i="0">
                <a:solidFill>
                  <a:srgbClr val="1E293B"/>
                </a:solidFill>
                <a:latin typeface="Arial"/>
              </a:defRPr>
            </a:pPr>
            <a:r>
              <a:t>Centraliza la comunicación del frontend con el backend y reduce acoplamiento.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74519"/>
            <a:ext cx="3474720" cy="182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74519"/>
            <a:ext cx="3474720" cy="39319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2938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Branching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04872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main, develop y feature/* organizan integración y trabajo paralelo.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74519"/>
            <a:ext cx="3474720" cy="1828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4747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929384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Pruebas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04872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Validan el comportamiento crítico y evitan regresiones.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60520"/>
            <a:ext cx="1097280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10972800" cy="393192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15383"/>
            <a:ext cx="10698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Cierre técnico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9087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Arquitectura, control de versiones y pruebas sostienen la calidad del proyecto.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Evidencia de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463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0" i="0">
                <a:solidFill>
                  <a:srgbClr val="DBEAFE"/>
                </a:solidFill>
                <a:latin typeface="Arial"/>
              </a:defRPr>
            </a:pPr>
            <a:r>
              <a:t>Salida real de Maven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AutoMax · proyecto fullstack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276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  <a:defRPr sz="1000" b="1" i="0">
                <a:solidFill>
                  <a:srgbClr val="64748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0F274A"/>
                </a:solidFill>
                <a:latin typeface="Arial"/>
              </a:defRPr>
            </a:pPr>
            <a:r>
              <a:t>Validación automatizada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Autenticación y flujo de órdenes.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6949440" cy="4160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694944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9384"/>
            <a:ext cx="6675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Qué valida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04872"/>
            <a:ext cx="667512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`AuthServiceTest`: registro, login y JWT para acceso protegido.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`OrdenServiceTest`: creación de turno y orden asociada.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`mvn test`: ejecuta la suite completa y confirma estabilidad.</a:t>
            </a:r>
          </a:p>
          <a:p>
            <a:pPr algn="l">
              <a:spcAft>
                <a:spcPts val="300"/>
              </a:spcAft>
              <a:defRPr sz="1400" b="0" i="0">
                <a:solidFill>
                  <a:srgbClr val="1E293B"/>
                </a:solidFill>
                <a:latin typeface="Arial"/>
              </a:defRPr>
            </a:pPr>
            <a:r>
              <a:t>• La terminal real demuestra trazabilidad de la ejecución.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74519"/>
            <a:ext cx="356616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993392"/>
            <a:ext cx="1417320" cy="274320"/>
          </a:xfrm>
          <a:prstGeom prst="roundRect">
            <a:avLst/>
          </a:prstGeom>
          <a:solidFill>
            <a:srgbClr val="0F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011680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Salida real de Maven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249424"/>
            <a:ext cx="30906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322576"/>
            <a:ext cx="1097280" cy="2011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3408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AuthServiceTest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295144"/>
            <a:ext cx="168249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  <a:defRPr sz="780" b="0" i="0">
                <a:solidFill>
                  <a:srgbClr val="1E293B"/>
                </a:solidFill>
                <a:latin typeface="Arial"/>
              </a:defRPr>
            </a:pPr>
            <a:r>
              <a:t>Login y token JWT.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615184"/>
            <a:ext cx="30906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2688336"/>
            <a:ext cx="1097280" cy="2011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27066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OrdenServiceTest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660903"/>
            <a:ext cx="168249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  <a:defRPr sz="780" b="0" i="0">
                <a:solidFill>
                  <a:srgbClr val="1E293B"/>
                </a:solidFill>
                <a:latin typeface="Arial"/>
              </a:defRPr>
            </a:pPr>
            <a:r>
              <a:t>Turno + orden.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980944"/>
            <a:ext cx="309067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3054096"/>
            <a:ext cx="10972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0723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BUILD 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026663"/>
            <a:ext cx="168249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  <a:defRPr sz="780" b="0" i="0">
                <a:solidFill>
                  <a:srgbClr val="1E293B"/>
                </a:solidFill>
                <a:latin typeface="Arial"/>
              </a:defRPr>
            </a:pPr>
            <a:r>
              <a:t>Suite sin fallos.</a:t>
            </a:r>
          </a:p>
        </p:txBody>
      </p:sp>
      <p:pic>
        <p:nvPicPr>
          <p:cNvPr id="30" name="Picture 29" descr="evidencia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3346704"/>
            <a:ext cx="2788920" cy="25138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AutoMax</dc:title>
  <dc:subject>Branching, BFF, microservicios, patrones y pruebas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